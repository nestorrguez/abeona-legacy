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2" autoAdjust="0"/>
    <p:restoredTop sz="94660"/>
  </p:normalViewPr>
  <p:slideViewPr>
    <p:cSldViewPr>
      <p:cViewPr varScale="1">
        <p:scale>
          <a:sx n="69" d="100"/>
          <a:sy n="69" d="100"/>
        </p:scale>
        <p:origin x="-138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8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9.xlsx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Hoja_de_c_lculo_de_Microsoft_Excel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Interesados en Programar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37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2683008"/>
        <c:axId val="102684544"/>
      </c:barChart>
      <c:catAx>
        <c:axId val="102683008"/>
        <c:scaling>
          <c:orientation val="minMax"/>
        </c:scaling>
        <c:delete val="0"/>
        <c:axPos val="l"/>
        <c:majorTickMark val="out"/>
        <c:minorTickMark val="none"/>
        <c:tickLblPos val="nextTo"/>
        <c:crossAx val="102684544"/>
        <c:crosses val="autoZero"/>
        <c:auto val="1"/>
        <c:lblAlgn val="ctr"/>
        <c:lblOffset val="100"/>
        <c:noMultiLvlLbl val="0"/>
      </c:catAx>
      <c:valAx>
        <c:axId val="10268454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026830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Programaron antes de la encuesta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6</c:v>
                </c:pt>
                <c:pt idx="1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392896"/>
        <c:axId val="141103872"/>
      </c:barChart>
      <c:catAx>
        <c:axId val="141392896"/>
        <c:scaling>
          <c:orientation val="minMax"/>
        </c:scaling>
        <c:delete val="0"/>
        <c:axPos val="l"/>
        <c:majorTickMark val="out"/>
        <c:minorTickMark val="none"/>
        <c:tickLblPos val="nextTo"/>
        <c:crossAx val="141103872"/>
        <c:crosses val="autoZero"/>
        <c:auto val="1"/>
        <c:lblAlgn val="ctr"/>
        <c:lblOffset val="100"/>
        <c:noMultiLvlLbl val="0"/>
      </c:catAx>
      <c:valAx>
        <c:axId val="14110387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13928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Interesados en Programar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37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349632"/>
        <c:axId val="141351168"/>
      </c:barChart>
      <c:catAx>
        <c:axId val="141349632"/>
        <c:scaling>
          <c:orientation val="minMax"/>
        </c:scaling>
        <c:delete val="0"/>
        <c:axPos val="l"/>
        <c:majorTickMark val="out"/>
        <c:minorTickMark val="none"/>
        <c:tickLblPos val="nextTo"/>
        <c:crossAx val="141351168"/>
        <c:crosses val="autoZero"/>
        <c:auto val="1"/>
        <c:lblAlgn val="ctr"/>
        <c:lblOffset val="100"/>
        <c:noMultiLvlLbl val="0"/>
      </c:catAx>
      <c:valAx>
        <c:axId val="14135116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13496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Programaron antes de la encuesta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6</c:v>
                </c:pt>
                <c:pt idx="1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371648"/>
        <c:axId val="141373440"/>
      </c:barChart>
      <c:catAx>
        <c:axId val="141371648"/>
        <c:scaling>
          <c:orientation val="minMax"/>
        </c:scaling>
        <c:delete val="0"/>
        <c:axPos val="l"/>
        <c:majorTickMark val="out"/>
        <c:minorTickMark val="none"/>
        <c:tickLblPos val="nextTo"/>
        <c:crossAx val="141373440"/>
        <c:crosses val="autoZero"/>
        <c:auto val="1"/>
        <c:lblAlgn val="ctr"/>
        <c:lblOffset val="100"/>
        <c:noMultiLvlLbl val="0"/>
      </c:catAx>
      <c:valAx>
        <c:axId val="141373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1371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Entienden los Diagramas de flujo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35</c:v>
                </c:pt>
                <c:pt idx="1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393920"/>
        <c:axId val="141395456"/>
      </c:barChart>
      <c:catAx>
        <c:axId val="141393920"/>
        <c:scaling>
          <c:orientation val="minMax"/>
        </c:scaling>
        <c:delete val="0"/>
        <c:axPos val="l"/>
        <c:majorTickMark val="out"/>
        <c:minorTickMark val="none"/>
        <c:tickLblPos val="nextTo"/>
        <c:crossAx val="141395456"/>
        <c:crosses val="autoZero"/>
        <c:auto val="1"/>
        <c:lblAlgn val="ctr"/>
        <c:lblOffset val="100"/>
        <c:noMultiLvlLbl val="0"/>
      </c:catAx>
      <c:valAx>
        <c:axId val="141395456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13939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Entendieron la explicacion del expositor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35</c:v>
                </c:pt>
                <c:pt idx="1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152064"/>
        <c:axId val="144153600"/>
      </c:barChart>
      <c:catAx>
        <c:axId val="144152064"/>
        <c:scaling>
          <c:orientation val="minMax"/>
        </c:scaling>
        <c:delete val="0"/>
        <c:axPos val="l"/>
        <c:majorTickMark val="out"/>
        <c:minorTickMark val="none"/>
        <c:tickLblPos val="nextTo"/>
        <c:crossAx val="144153600"/>
        <c:crosses val="autoZero"/>
        <c:auto val="1"/>
        <c:lblAlgn val="ctr"/>
        <c:lblOffset val="100"/>
        <c:noMultiLvlLbl val="0"/>
      </c:catAx>
      <c:valAx>
        <c:axId val="14415360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41520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Manejó facilmente el programa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25</c:v>
                </c:pt>
                <c:pt idx="1">
                  <c:v>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178176"/>
        <c:axId val="144196352"/>
      </c:barChart>
      <c:catAx>
        <c:axId val="144178176"/>
        <c:scaling>
          <c:orientation val="minMax"/>
        </c:scaling>
        <c:delete val="0"/>
        <c:axPos val="l"/>
        <c:majorTickMark val="out"/>
        <c:minorTickMark val="none"/>
        <c:tickLblPos val="nextTo"/>
        <c:crossAx val="144196352"/>
        <c:crosses val="autoZero"/>
        <c:auto val="1"/>
        <c:lblAlgn val="ctr"/>
        <c:lblOffset val="100"/>
        <c:noMultiLvlLbl val="0"/>
      </c:catAx>
      <c:valAx>
        <c:axId val="14419635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41781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Creen que el programa los ayude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38</c:v>
                </c:pt>
                <c:pt idx="1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291776"/>
        <c:axId val="143863168"/>
      </c:barChart>
      <c:catAx>
        <c:axId val="45291776"/>
        <c:scaling>
          <c:orientation val="minMax"/>
        </c:scaling>
        <c:delete val="0"/>
        <c:axPos val="l"/>
        <c:majorTickMark val="out"/>
        <c:minorTickMark val="none"/>
        <c:tickLblPos val="nextTo"/>
        <c:crossAx val="143863168"/>
        <c:crosses val="autoZero"/>
        <c:auto val="1"/>
        <c:lblAlgn val="ctr"/>
        <c:lblOffset val="100"/>
        <c:noMultiLvlLbl val="0"/>
      </c:catAx>
      <c:valAx>
        <c:axId val="14386316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52917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Usarían el programa en clases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36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198656"/>
        <c:axId val="144217600"/>
      </c:barChart>
      <c:catAx>
        <c:axId val="144198656"/>
        <c:scaling>
          <c:orientation val="minMax"/>
        </c:scaling>
        <c:delete val="0"/>
        <c:axPos val="l"/>
        <c:majorTickMark val="out"/>
        <c:minorTickMark val="none"/>
        <c:tickLblPos val="nextTo"/>
        <c:crossAx val="144217600"/>
        <c:crosses val="autoZero"/>
        <c:auto val="1"/>
        <c:lblAlgn val="ctr"/>
        <c:lblOffset val="100"/>
        <c:noMultiLvlLbl val="0"/>
      </c:catAx>
      <c:valAx>
        <c:axId val="14421760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41986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Recomendarían el programa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34</c:v>
                </c:pt>
                <c:pt idx="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226176"/>
        <c:axId val="144227712"/>
      </c:barChart>
      <c:catAx>
        <c:axId val="144226176"/>
        <c:scaling>
          <c:orientation val="minMax"/>
        </c:scaling>
        <c:delete val="0"/>
        <c:axPos val="l"/>
        <c:majorTickMark val="out"/>
        <c:minorTickMark val="none"/>
        <c:tickLblPos val="nextTo"/>
        <c:crossAx val="144227712"/>
        <c:crosses val="autoZero"/>
        <c:auto val="1"/>
        <c:lblAlgn val="ctr"/>
        <c:lblOffset val="100"/>
        <c:noMultiLvlLbl val="0"/>
      </c:catAx>
      <c:valAx>
        <c:axId val="14422771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42261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MX" dirty="0"/>
              <a:t>Como </a:t>
            </a:r>
            <a:r>
              <a:rPr lang="es-MX" dirty="0" smtClean="0"/>
              <a:t>codificarían</a:t>
            </a:r>
            <a:r>
              <a:rPr lang="es-MX" baseline="0" dirty="0" smtClean="0"/>
              <a:t> </a:t>
            </a:r>
            <a:endParaRPr lang="es-MX" dirty="0"/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Como codificarías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Escribiendo el Codigo</c:v>
                </c:pt>
                <c:pt idx="1">
                  <c:v>Usando el Programa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6</c:v>
                </c:pt>
                <c:pt idx="1">
                  <c:v>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837120"/>
        <c:axId val="46843008"/>
      </c:barChart>
      <c:catAx>
        <c:axId val="46837120"/>
        <c:scaling>
          <c:orientation val="minMax"/>
        </c:scaling>
        <c:delete val="0"/>
        <c:axPos val="l"/>
        <c:majorTickMark val="out"/>
        <c:minorTickMark val="none"/>
        <c:tickLblPos val="nextTo"/>
        <c:crossAx val="46843008"/>
        <c:crosses val="autoZero"/>
        <c:auto val="1"/>
        <c:lblAlgn val="ctr"/>
        <c:lblOffset val="100"/>
        <c:noMultiLvlLbl val="0"/>
      </c:catAx>
      <c:valAx>
        <c:axId val="4684300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68371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Comprarían el programa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30</c:v>
                </c:pt>
                <c:pt idx="1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855296"/>
        <c:axId val="46856832"/>
      </c:barChart>
      <c:catAx>
        <c:axId val="46855296"/>
        <c:scaling>
          <c:orientation val="minMax"/>
        </c:scaling>
        <c:delete val="0"/>
        <c:axPos val="l"/>
        <c:majorTickMark val="out"/>
        <c:minorTickMark val="none"/>
        <c:tickLblPos val="nextTo"/>
        <c:crossAx val="46856832"/>
        <c:crosses val="autoZero"/>
        <c:auto val="1"/>
        <c:lblAlgn val="ctr"/>
        <c:lblOffset val="100"/>
        <c:noMultiLvlLbl val="0"/>
      </c:catAx>
      <c:valAx>
        <c:axId val="4685683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68552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Participaron en la rifa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22</c:v>
                </c:pt>
                <c:pt idx="1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1221888"/>
        <c:axId val="141223424"/>
      </c:barChart>
      <c:catAx>
        <c:axId val="141221888"/>
        <c:scaling>
          <c:orientation val="minMax"/>
        </c:scaling>
        <c:delete val="0"/>
        <c:axPos val="l"/>
        <c:majorTickMark val="out"/>
        <c:minorTickMark val="none"/>
        <c:tickLblPos val="nextTo"/>
        <c:crossAx val="141223424"/>
        <c:crosses val="autoZero"/>
        <c:auto val="1"/>
        <c:lblAlgn val="ctr"/>
        <c:lblOffset val="100"/>
        <c:noMultiLvlLbl val="0"/>
      </c:catAx>
      <c:valAx>
        <c:axId val="14122342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412218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MX" dirty="0" smtClean="0"/>
              <a:t>Los alumnos presentan</a:t>
            </a:r>
            <a:r>
              <a:rPr lang="es-MX" baseline="0" dirty="0" smtClean="0"/>
              <a:t> problemas para aprender a programar</a:t>
            </a:r>
            <a:endParaRPr lang="es-MX" dirty="0"/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16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2316416"/>
        <c:axId val="52322304"/>
      </c:barChart>
      <c:catAx>
        <c:axId val="52316416"/>
        <c:scaling>
          <c:orientation val="minMax"/>
        </c:scaling>
        <c:delete val="0"/>
        <c:axPos val="l"/>
        <c:majorTickMark val="out"/>
        <c:minorTickMark val="none"/>
        <c:tickLblPos val="nextTo"/>
        <c:crossAx val="52322304"/>
        <c:crosses val="autoZero"/>
        <c:auto val="1"/>
        <c:lblAlgn val="ctr"/>
        <c:lblOffset val="100"/>
        <c:noMultiLvlLbl val="0"/>
      </c:catAx>
      <c:valAx>
        <c:axId val="5232230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523164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MX" dirty="0" smtClean="0"/>
              <a:t>Creen que el programa</a:t>
            </a:r>
            <a:r>
              <a:rPr lang="es-MX" baseline="0" dirty="0" smtClean="0"/>
              <a:t> ayude a los alumnos</a:t>
            </a:r>
            <a:endParaRPr lang="es-MX" dirty="0"/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16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616576"/>
        <c:axId val="46618112"/>
      </c:barChart>
      <c:catAx>
        <c:axId val="46616576"/>
        <c:scaling>
          <c:orientation val="minMax"/>
        </c:scaling>
        <c:delete val="0"/>
        <c:axPos val="l"/>
        <c:majorTickMark val="out"/>
        <c:minorTickMark val="none"/>
        <c:tickLblPos val="nextTo"/>
        <c:crossAx val="46618112"/>
        <c:crosses val="autoZero"/>
        <c:auto val="1"/>
        <c:lblAlgn val="ctr"/>
        <c:lblOffset val="100"/>
        <c:noMultiLvlLbl val="0"/>
      </c:catAx>
      <c:valAx>
        <c:axId val="4661811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66165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MX" dirty="0" smtClean="0"/>
              <a:t>Utilizarían</a:t>
            </a:r>
            <a:r>
              <a:rPr lang="es-MX" baseline="0" dirty="0" smtClean="0"/>
              <a:t> el programa</a:t>
            </a:r>
            <a:endParaRPr lang="es-MX" dirty="0"/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16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2356608"/>
        <c:axId val="52358144"/>
      </c:barChart>
      <c:catAx>
        <c:axId val="52356608"/>
        <c:scaling>
          <c:orientation val="minMax"/>
        </c:scaling>
        <c:delete val="0"/>
        <c:axPos val="l"/>
        <c:majorTickMark val="out"/>
        <c:minorTickMark val="none"/>
        <c:tickLblPos val="nextTo"/>
        <c:crossAx val="52358144"/>
        <c:crosses val="autoZero"/>
        <c:auto val="1"/>
        <c:lblAlgn val="ctr"/>
        <c:lblOffset val="100"/>
        <c:noMultiLvlLbl val="0"/>
      </c:catAx>
      <c:valAx>
        <c:axId val="5235814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523566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MX" dirty="0" smtClean="0"/>
              <a:t>Creen que el programa facilitara la manera en que programan los alumnos</a:t>
            </a:r>
            <a:endParaRPr lang="es-MX" dirty="0"/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14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533632"/>
        <c:axId val="46535424"/>
      </c:barChart>
      <c:catAx>
        <c:axId val="46533632"/>
        <c:scaling>
          <c:orientation val="minMax"/>
        </c:scaling>
        <c:delete val="0"/>
        <c:axPos val="l"/>
        <c:majorTickMark val="out"/>
        <c:minorTickMark val="none"/>
        <c:tickLblPos val="nextTo"/>
        <c:crossAx val="46535424"/>
        <c:crosses val="autoZero"/>
        <c:auto val="1"/>
        <c:lblAlgn val="ctr"/>
        <c:lblOffset val="100"/>
        <c:noMultiLvlLbl val="0"/>
      </c:catAx>
      <c:valAx>
        <c:axId val="4653542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65336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MX" dirty="0" smtClean="0"/>
              <a:t>Creen que el programa</a:t>
            </a:r>
            <a:r>
              <a:rPr lang="es-MX" baseline="0" dirty="0" smtClean="0"/>
              <a:t> es fácil de usar</a:t>
            </a:r>
            <a:endParaRPr lang="es-MX" dirty="0"/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15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732032"/>
        <c:axId val="46733568"/>
      </c:barChart>
      <c:catAx>
        <c:axId val="46732032"/>
        <c:scaling>
          <c:orientation val="minMax"/>
        </c:scaling>
        <c:delete val="0"/>
        <c:axPos val="l"/>
        <c:majorTickMark val="out"/>
        <c:minorTickMark val="none"/>
        <c:tickLblPos val="nextTo"/>
        <c:crossAx val="46733568"/>
        <c:crosses val="autoZero"/>
        <c:auto val="1"/>
        <c:lblAlgn val="ctr"/>
        <c:lblOffset val="100"/>
        <c:noMultiLvlLbl val="0"/>
      </c:catAx>
      <c:valAx>
        <c:axId val="4673356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67320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MX" dirty="0" smtClean="0"/>
              <a:t>Creen que el estaría</a:t>
            </a:r>
            <a:r>
              <a:rPr lang="es-MX" baseline="0" dirty="0" smtClean="0"/>
              <a:t> bien que el software estuviera en el programa de estudios</a:t>
            </a:r>
            <a:endParaRPr lang="es-MX" dirty="0"/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invertIfNegative val="0"/>
          <c:cat>
            <c:strRef>
              <c:f>Hoja1!$A$2:$A$3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15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754432"/>
        <c:axId val="46760320"/>
      </c:barChart>
      <c:catAx>
        <c:axId val="46754432"/>
        <c:scaling>
          <c:orientation val="minMax"/>
        </c:scaling>
        <c:delete val="0"/>
        <c:axPos val="l"/>
        <c:majorTickMark val="out"/>
        <c:minorTickMark val="none"/>
        <c:tickLblPos val="nextTo"/>
        <c:crossAx val="46760320"/>
        <c:crosses val="autoZero"/>
        <c:auto val="1"/>
        <c:lblAlgn val="ctr"/>
        <c:lblOffset val="100"/>
        <c:noMultiLvlLbl val="0"/>
      </c:catAx>
      <c:valAx>
        <c:axId val="4676032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67544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MX" dirty="0" smtClean="0"/>
              <a:t>Calificaciones</a:t>
            </a:r>
            <a:r>
              <a:rPr lang="es-MX" baseline="0" dirty="0" smtClean="0"/>
              <a:t> dadas al programa</a:t>
            </a:r>
            <a:endParaRPr lang="es-MX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5.7570647419072613E-2"/>
          <c:y val="8.5861184018664327E-2"/>
          <c:w val="0.49743285214348215"/>
          <c:h val="0.8402468649752113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</c:numCache>
            </c:numRef>
          </c:cat>
          <c:val>
            <c:numRef>
              <c:f>Hoja1!$B$2:$B$6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780800"/>
        <c:axId val="46782336"/>
      </c:barChart>
      <c:catAx>
        <c:axId val="467808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46782336"/>
        <c:crosses val="autoZero"/>
        <c:auto val="1"/>
        <c:lblAlgn val="ctr"/>
        <c:lblOffset val="100"/>
        <c:noMultiLvlLbl val="0"/>
      </c:catAx>
      <c:valAx>
        <c:axId val="46782336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67808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0.58662</cdr:x>
      <cdr:y>0.09051</cdr:y>
    </cdr:from>
    <cdr:to>
      <cdr:x>0.98824</cdr:x>
      <cdr:y>0.5</cdr:y>
    </cdr:to>
    <cdr:sp macro="" textlink="">
      <cdr:nvSpPr>
        <cdr:cNvPr id="2" name="1 CuadroTexto"/>
        <cdr:cNvSpPr txBox="1"/>
      </cdr:nvSpPr>
      <cdr:spPr>
        <a:xfrm xmlns:a="http://schemas.openxmlformats.org/drawingml/2006/main">
          <a:off x="5364088" y="620688"/>
          <a:ext cx="3672408" cy="280831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s-MX" sz="1800" b="1" dirty="0" smtClean="0"/>
            <a:t>Calificación promedio del programa:</a:t>
          </a:r>
        </a:p>
        <a:p xmlns:a="http://schemas.openxmlformats.org/drawingml/2006/main">
          <a:pPr algn="ctr"/>
          <a:r>
            <a:rPr lang="es-MX" sz="6000" b="1" dirty="0" smtClean="0"/>
            <a:t>8.3</a:t>
          </a:r>
        </a:p>
        <a:p xmlns:a="http://schemas.openxmlformats.org/drawingml/2006/main">
          <a:pPr algn="ctr"/>
          <a:r>
            <a:rPr lang="es-MX" sz="1400" i="1" dirty="0" smtClean="0"/>
            <a:t>8.375</a:t>
          </a:r>
        </a:p>
        <a:p xmlns:a="http://schemas.openxmlformats.org/drawingml/2006/main">
          <a:endParaRPr lang="es-MX" sz="1800" b="1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9013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975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1053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794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637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622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275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558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225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279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126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0444F-E5EC-4278-816E-A36D69D0AA0F}" type="datetimeFigureOut">
              <a:rPr lang="es-MX" smtClean="0"/>
              <a:t>11/04/2014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94FA5-2E3C-4CAD-95BE-6B2BE42733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299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322827" y="1997839"/>
            <a:ext cx="4498347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002060"/>
              </a:contourClr>
            </a:sp3d>
          </a:bodyPr>
          <a:lstStyle/>
          <a:p>
            <a:pPr algn="ctr"/>
            <a:r>
              <a:rPr lang="es-ES" sz="4800" b="1" dirty="0" smtClean="0">
                <a:ln w="11430"/>
                <a:gradFill>
                  <a:gsLst>
                    <a:gs pos="0">
                      <a:srgbClr val="00B0F0"/>
                    </a:gs>
                    <a:gs pos="75000">
                      <a:srgbClr val="0070C0"/>
                    </a:gs>
                    <a:gs pos="100000">
                      <a:srgbClr val="00206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Estadísticas</a:t>
            </a:r>
          </a:p>
          <a:p>
            <a:pPr algn="ctr"/>
            <a:r>
              <a:rPr lang="es-ES" sz="7200" b="1" cap="none" spc="0" dirty="0" smtClean="0">
                <a:ln w="11430"/>
                <a:gradFill>
                  <a:gsLst>
                    <a:gs pos="0">
                      <a:srgbClr val="00B0F0"/>
                    </a:gs>
                    <a:gs pos="75000">
                      <a:srgbClr val="0070C0"/>
                    </a:gs>
                    <a:gs pos="100000">
                      <a:srgbClr val="00206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&lt;Alumnos&gt;</a:t>
            </a:r>
          </a:p>
          <a:p>
            <a:pPr algn="ctr"/>
            <a:r>
              <a:rPr lang="es-ES" sz="5400" b="1" dirty="0" smtClean="0">
                <a:ln w="11430"/>
                <a:gradFill>
                  <a:gsLst>
                    <a:gs pos="0">
                      <a:srgbClr val="00B0F0"/>
                    </a:gs>
                    <a:gs pos="75000">
                      <a:srgbClr val="0070C0"/>
                    </a:gs>
                    <a:gs pos="100000">
                      <a:srgbClr val="00206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41</a:t>
            </a:r>
            <a:endParaRPr lang="es-ES" sz="5400" b="1" cap="none" spc="0" dirty="0">
              <a:ln w="11430"/>
              <a:gradFill>
                <a:gsLst>
                  <a:gs pos="0">
                    <a:srgbClr val="00B0F0"/>
                  </a:gs>
                  <a:gs pos="75000">
                    <a:srgbClr val="0070C0"/>
                  </a:gs>
                  <a:gs pos="100000">
                    <a:srgbClr val="002060"/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137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Gráfico"/>
          <p:cNvGraphicFramePr/>
          <p:nvPr>
            <p:extLst>
              <p:ext uri="{D42A27DB-BD31-4B8C-83A1-F6EECF244321}">
                <p14:modId xmlns:p14="http://schemas.microsoft.com/office/powerpoint/2010/main" val="71274202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524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Gráfico"/>
          <p:cNvGraphicFramePr/>
          <p:nvPr>
            <p:extLst>
              <p:ext uri="{D42A27DB-BD31-4B8C-83A1-F6EECF244321}">
                <p14:modId xmlns:p14="http://schemas.microsoft.com/office/powerpoint/2010/main" val="2073536791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3260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Gráfico"/>
          <p:cNvGraphicFramePr/>
          <p:nvPr>
            <p:extLst>
              <p:ext uri="{D42A27DB-BD31-4B8C-83A1-F6EECF244321}">
                <p14:modId xmlns:p14="http://schemas.microsoft.com/office/powerpoint/2010/main" val="3825454468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3811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Gráfico"/>
          <p:cNvGraphicFramePr/>
          <p:nvPr>
            <p:extLst>
              <p:ext uri="{D42A27DB-BD31-4B8C-83A1-F6EECF244321}">
                <p14:modId xmlns:p14="http://schemas.microsoft.com/office/powerpoint/2010/main" val="290921507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636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171359409"/>
              </p:ext>
            </p:extLst>
          </p:nvPr>
        </p:nvGraphicFramePr>
        <p:xfrm>
          <a:off x="32970" y="31512"/>
          <a:ext cx="9111030" cy="6826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3030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1945850264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0365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741067620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764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2501638325"/>
              </p:ext>
            </p:extLst>
          </p:nvPr>
        </p:nvGraphicFramePr>
        <p:xfrm>
          <a:off x="-5440" y="0"/>
          <a:ext cx="914943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111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3553109289"/>
              </p:ext>
            </p:extLst>
          </p:nvPr>
        </p:nvGraphicFramePr>
        <p:xfrm>
          <a:off x="0" y="10732"/>
          <a:ext cx="9144000" cy="6847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9383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3163298325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489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112896119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751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48816353"/>
              </p:ext>
            </p:extLst>
          </p:nvPr>
        </p:nvGraphicFramePr>
        <p:xfrm>
          <a:off x="0" y="-99392"/>
          <a:ext cx="9144000" cy="6957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-31576" y="5589240"/>
            <a:ext cx="917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El promedio de las cantidades propuestas por los encuestados  es de: $1151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-31576" y="5926306"/>
            <a:ext cx="917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Precio planteado en la versión anterior: $300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0" y="6295638"/>
            <a:ext cx="917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Precio planteado actual: $370 - 400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28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554300315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1411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239792" y="1997839"/>
            <a:ext cx="4664418" cy="276998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002060"/>
              </a:contourClr>
            </a:sp3d>
          </a:bodyPr>
          <a:lstStyle/>
          <a:p>
            <a:pPr algn="ctr"/>
            <a:r>
              <a:rPr lang="es-ES" sz="4800" b="1" dirty="0" smtClean="0">
                <a:ln w="11430"/>
                <a:gradFill>
                  <a:gsLst>
                    <a:gs pos="0">
                      <a:srgbClr val="00B0F0"/>
                    </a:gs>
                    <a:gs pos="75000">
                      <a:srgbClr val="0070C0"/>
                    </a:gs>
                    <a:gs pos="100000">
                      <a:srgbClr val="00206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Estadísticas</a:t>
            </a:r>
          </a:p>
          <a:p>
            <a:pPr algn="ctr"/>
            <a:r>
              <a:rPr lang="es-ES" sz="7200" b="1" cap="none" spc="0" dirty="0" smtClean="0">
                <a:ln w="11430"/>
                <a:gradFill>
                  <a:gsLst>
                    <a:gs pos="0">
                      <a:srgbClr val="00B0F0"/>
                    </a:gs>
                    <a:gs pos="75000">
                      <a:srgbClr val="0070C0"/>
                    </a:gs>
                    <a:gs pos="100000">
                      <a:srgbClr val="00206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&lt;Docentes&gt;</a:t>
            </a:r>
          </a:p>
          <a:p>
            <a:pPr algn="ctr"/>
            <a:r>
              <a:rPr lang="es-ES" sz="5400" b="1" dirty="0" smtClean="0">
                <a:ln w="11430"/>
                <a:gradFill>
                  <a:gsLst>
                    <a:gs pos="0">
                      <a:srgbClr val="00B0F0"/>
                    </a:gs>
                    <a:gs pos="75000">
                      <a:srgbClr val="0070C0"/>
                    </a:gs>
                    <a:gs pos="100000">
                      <a:srgbClr val="00206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16</a:t>
            </a:r>
            <a:endParaRPr lang="es-ES" sz="5400" b="1" cap="none" spc="0" dirty="0">
              <a:ln w="11430"/>
              <a:gradFill>
                <a:gsLst>
                  <a:gs pos="0">
                    <a:srgbClr val="00B0F0"/>
                  </a:gs>
                  <a:gs pos="75000">
                    <a:srgbClr val="0070C0"/>
                  </a:gs>
                  <a:gs pos="100000">
                    <a:srgbClr val="002060"/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188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1392330919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31120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2195916306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39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245967293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434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3216953765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676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2039968965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36880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1597448939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1664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3684873715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69892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158</Words>
  <Application>Microsoft Office PowerPoint</Application>
  <PresentationFormat>Presentación en pantalla (4:3)</PresentationFormat>
  <Paragraphs>32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Néstor Rodríguez</dc:creator>
  <cp:lastModifiedBy>Néstor Rodríguez</cp:lastModifiedBy>
  <cp:revision>11</cp:revision>
  <dcterms:created xsi:type="dcterms:W3CDTF">2014-03-04T05:40:39Z</dcterms:created>
  <dcterms:modified xsi:type="dcterms:W3CDTF">2014-04-11T21:00:43Z</dcterms:modified>
</cp:coreProperties>
</file>